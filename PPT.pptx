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orben"/>
      <p:regular r:id="rId201314"/>
    </p:embeddedFont>
    <p:embeddedFont>
      <p:font typeface="Corben Bold"/>
      <p:regular r:id="rId201315"/>
    </p:embeddedFont>
    <p:embeddedFont>
      <p:font typeface="Nobile"/>
      <p:regular r:id="rId201316"/>
    </p:embeddedFont>
    <p:embeddedFont>
      <p:font typeface="Nobile Medium"/>
      <p:regular r:id="rId201317"/>
    </p:embeddedFont>
    <p:embeddedFont>
      <p:font typeface="Nobil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Online Order Delivery Time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Using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Learning, Logistics Analytics, and Traffic Data Analysis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deliver accurate, real-time estimated arrival times across e-commerce, logistics, and last-mile delivery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840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Traditional Estimation Falls Short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7698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Fixed rules and historical averages ignore the dynamic realities of modern delivery operations.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190080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336602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Static Rules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643113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Flat-rate estimates ignore real-time traffic, weather, and order volume.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190080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4863" y="2336602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 Context Awareness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2643113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Delivery partner availability, road conditions, and peak hours are never factored in.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611835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375835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High Error Rates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4064868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Inaccurate ETAs erode customer trust and inflate operational costs.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198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Intelligent Prediction Solution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21705"/>
            <a:ext cx="5200278" cy="29251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2146" y="2066776"/>
            <a:ext cx="2670423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system combines 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Learning, Logistics Analytics, and Traffic Data Analysis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generate precise, context-aware delivery time predictions — dynamically adapting to live conditions for every order.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279" y="4160862"/>
            <a:ext cx="172715" cy="1727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0347" y="4157290"/>
            <a:ext cx="226501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Multi-Factor Modeling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70347" y="4393332"/>
            <a:ext cx="226501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Incorporates distance, traffic, weather, partner availability, and order priority.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5501" y="4160862"/>
            <a:ext cx="172715" cy="1727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26569" y="4157290"/>
            <a:ext cx="226501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Continuous Learning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626569" y="4393332"/>
            <a:ext cx="226501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Models retrain on new delivery data, improving accuracy over time.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1724" y="4160862"/>
            <a:ext cx="172715" cy="1727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82792" y="4157290"/>
            <a:ext cx="226501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Real-Time Inference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382792" y="4393332"/>
            <a:ext cx="226501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Predictions generated in milliseconds at order placement and throughout transit.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813"/>
            <a:ext cx="1214661" cy="198462"/>
          </a:xfrm>
          <a:prstGeom prst="roundRect">
            <a:avLst>
              <a:gd name="adj" fmla="val 22126"/>
            </a:avLst>
          </a:prstGeom>
          <a:solidFill>
            <a:srgbClr val="D2D9F9"/>
          </a:solidFill>
          <a:ln/>
        </p:spPr>
      </p:sp>
      <p:sp>
        <p:nvSpPr>
          <p:cNvPr id="3" name="Text 1"/>
          <p:cNvSpPr/>
          <p:nvPr/>
        </p:nvSpPr>
        <p:spPr>
          <a:xfrm>
            <a:off x="574477" y="443954"/>
            <a:ext cx="1515145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WORKFLOW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51421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End-to-End Prediction Pipeline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240482"/>
            <a:ext cx="7890644" cy="296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2209" y="3367990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02299" y="336799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40" y="336799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Route &amp; Traffic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18781" y="336799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4415" y="336799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Order Placement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336926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stage is automated and interconnected — from the moment a customer places an order to the final delivery confirmation, the system continuously ingests, processes, and learns from operational data.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Machine Learning Prediction Engine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5475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Regression Algorithms in Action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06638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prediction engine uses supervised regression models trained on labeled historical delivery data. Algorithms such as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Random Forest, Gradient Boosting, and XGBoost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map input features to a continuous delivery time estimate.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806154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 selection via correlation analysis and SHAP values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Cross-validation to prevent overfitting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Ensemble methods for robust, low-variance predictions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12936" cy="107603"/>
          </a:xfrm>
          <a:prstGeom prst="roundRect">
            <a:avLst>
              <a:gd name="adj" fmla="val 22134"/>
            </a:avLst>
          </a:prstGeom>
          <a:solidFill>
            <a:srgbClr val="D2D9F9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85155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ARCHITECTURE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Architecture &amp; Technology Stack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86185"/>
            <a:ext cx="8151763" cy="373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67310" y="1304097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Outer Application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67310" y="1593618"/>
            <a:ext cx="1987578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REST API, Dashboard, Alert System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2951" y="2530304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Processing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8908" y="2819826"/>
            <a:ext cx="1827290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Python, Pandas, Spark for ETL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67310" y="3163444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Core ML Engine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67310" y="3452966"/>
            <a:ext cx="1987578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Scikit-learn, XGBoost, TensorFlow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55659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architecture separates concerns across four layers — enabling independent scaling, fault isolation, and seamless integration with third-party data sources.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496119" y="4681463"/>
            <a:ext cx="4058171" cy="377726"/>
          </a:xfrm>
          <a:prstGeom prst="roundRect">
            <a:avLst>
              <a:gd name="adj" fmla="val 7882"/>
            </a:avLst>
          </a:prstGeom>
          <a:solidFill>
            <a:srgbClr val="F9F9FF">
              <a:alpha val="95000"/>
            </a:srgbClr>
          </a:solidFill>
          <a:ln w="9525">
            <a:solidFill>
              <a:srgbClr val="B8B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486" y="4761830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Backend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576486" y="4893766"/>
            <a:ext cx="38974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· Flask/FastAPI · PostgreSQL · Redis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4589711" y="4681463"/>
            <a:ext cx="4058171" cy="377726"/>
          </a:xfrm>
          <a:prstGeom prst="roundRect">
            <a:avLst>
              <a:gd name="adj" fmla="val 7882"/>
            </a:avLst>
          </a:prstGeom>
          <a:solidFill>
            <a:srgbClr val="F9F9FF">
              <a:alpha val="95000"/>
            </a:srgbClr>
          </a:solidFill>
          <a:ln w="9525">
            <a:solidFill>
              <a:srgbClr val="B8BF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70078" y="4761830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ML Frameworks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4670078" y="4893766"/>
            <a:ext cx="38974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Scikit-learn · XGBoost · TensorFlow · Keras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496119" y="5094610"/>
            <a:ext cx="4058171" cy="377726"/>
          </a:xfrm>
          <a:prstGeom prst="roundRect">
            <a:avLst>
              <a:gd name="adj" fmla="val 7882"/>
            </a:avLst>
          </a:prstGeom>
          <a:solidFill>
            <a:srgbClr val="F9F9FF">
              <a:alpha val="95000"/>
            </a:srgbClr>
          </a:solidFill>
          <a:ln w="9525">
            <a:solidFill>
              <a:srgbClr val="B8BF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486" y="5174977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APIs &amp; Data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576486" y="5306913"/>
            <a:ext cx="38974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Google Maps · OpenWeatherMap · HERE Traffic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4589711" y="5094610"/>
            <a:ext cx="4058171" cy="377726"/>
          </a:xfrm>
          <a:prstGeom prst="roundRect">
            <a:avLst>
              <a:gd name="adj" fmla="val 7882"/>
            </a:avLst>
          </a:prstGeom>
          <a:solidFill>
            <a:srgbClr val="F9F9FF">
              <a:alpha val="95000"/>
            </a:srgbClr>
          </a:solidFill>
          <a:ln w="9525">
            <a:solidFill>
              <a:srgbClr val="B8BF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70078" y="5174977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Frontend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4670078" y="5306913"/>
            <a:ext cx="38974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 · D3.js · Plotly · Grafana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083"/>
            <a:ext cx="8151763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Pipeline: Collection to Deployment</a:t>
            </a:r>
            <a:endParaRPr lang="en-US" sz="1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39304"/>
            <a:ext cx="5234360" cy="29442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18895" y="2042443"/>
            <a:ext cx="2733675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 Rigorous Data Lifecycle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918895" y="2200052"/>
            <a:ext cx="2733675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Quality predictions require quality data. The pipeline ensures every record is clean, relevant, and model-ready.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96119" y="3773463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01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496119" y="3891930"/>
            <a:ext cx="4055864" cy="9525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8" name="Text 5"/>
          <p:cNvSpPr/>
          <p:nvPr/>
        </p:nvSpPr>
        <p:spPr>
          <a:xfrm>
            <a:off x="496119" y="3948633"/>
            <a:ext cx="4055864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Collection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96119" y="4090243"/>
            <a:ext cx="4055864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Ingest from traffic APIs, weather feeds, GPS trackers, and order databases.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591943" y="3773463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02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4591943" y="3891930"/>
            <a:ext cx="4055938" cy="9525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2" name="Text 9"/>
          <p:cNvSpPr/>
          <p:nvPr/>
        </p:nvSpPr>
        <p:spPr>
          <a:xfrm>
            <a:off x="4591943" y="3948633"/>
            <a:ext cx="4055938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Preprocessing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91943" y="4090243"/>
            <a:ext cx="405593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 missing values, outliers, normalization, and categorical encoding.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496119" y="4278883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03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496119" y="4397350"/>
            <a:ext cx="4055864" cy="9525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6" name="Text 13"/>
          <p:cNvSpPr/>
          <p:nvPr/>
        </p:nvSpPr>
        <p:spPr>
          <a:xfrm>
            <a:off x="496119" y="4454054"/>
            <a:ext cx="4055864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Feature Engineering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96119" y="4595664"/>
            <a:ext cx="4055864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Derive time-of-day, day-of-week, distance zones, and traffic density indices.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4591943" y="4278883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04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4591943" y="4397350"/>
            <a:ext cx="4055938" cy="9525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20" name="Text 17"/>
          <p:cNvSpPr/>
          <p:nvPr/>
        </p:nvSpPr>
        <p:spPr>
          <a:xfrm>
            <a:off x="4591943" y="4454054"/>
            <a:ext cx="4055938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Train / Test / Deploy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591943" y="4595664"/>
            <a:ext cx="405593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Split data, validate models, then deploy via containerized microservices (Docker/Kubernetes).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241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Performance &amp; Evaluation Metrics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97843"/>
            <a:ext cx="3905696" cy="28112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6947" y="1180728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the Metrics Mean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6947" y="1536129"/>
            <a:ext cx="3905696" cy="191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MAE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Average absolute error in minutes; lower is better.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RMSE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Penalizes larger errors more heavily; reflects prediction stability.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R² Score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Proportion of variance explained; 91% indicates strong fit.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Prediction Accuracy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Percentage of estimates within acceptable tolerance.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6947" y="3606478"/>
            <a:ext cx="3905696" cy="981224"/>
          </a:xfrm>
          <a:prstGeom prst="roundRect">
            <a:avLst>
              <a:gd name="adj" fmla="val 5973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474" y="3806354"/>
            <a:ext cx="174427" cy="1395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0427" y="3764905"/>
            <a:ext cx="331269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model exceeds all target thresholds, demonstrating production-ready accuracy for real-world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532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Features &amp; Real-World Applications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58838"/>
            <a:ext cx="256952" cy="256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61269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Real-Time Prediction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6119" y="1731764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Live ETA updates at order placement and throughout transit.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4703" y="1058838"/>
            <a:ext cx="256952" cy="2569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4703" y="1461269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Traffic-Aware Routing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44703" y="1731764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Integrates live congestion data to adjust routes and ETAs dynamically.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56470"/>
            <a:ext cx="256952" cy="2569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758901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Weather-Aware Estimation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96119" y="3029396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Factors in rain, snow, and temperature impacts on travel speed.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4703" y="2356470"/>
            <a:ext cx="256952" cy="2569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4703" y="2758901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E-Commerce &amp; Retail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44703" y="3029396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Accurate ETAs at checkout reduce cart abandonment and boost satisfaction.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654103"/>
            <a:ext cx="256952" cy="2569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4056534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Food &amp; Courier Services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96119" y="4327029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Optimizes last-mile delivery for perishables and time-sensitive parcels.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4703" y="3654103"/>
            <a:ext cx="256952" cy="25695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4703" y="4056534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Supply Chain &amp; Logistics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44703" y="4327029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Enables fleet managers to plan capacity, reduce delays, and cut costs.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095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Scalability, Future Roadmap &amp; Impact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03995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57971" y="1281708"/>
            <a:ext cx="14288" cy="2442567"/>
          </a:xfrm>
          <a:prstGeom prst="roundRect">
            <a:avLst>
              <a:gd name="adj" fmla="val 49998"/>
            </a:avLst>
          </a:prstGeom>
          <a:solidFill>
            <a:srgbClr val="B8BFDF"/>
          </a:solidFill>
          <a:ln/>
        </p:spPr>
      </p:sp>
      <p:sp>
        <p:nvSpPr>
          <p:cNvPr id="5" name="Shape 3"/>
          <p:cNvSpPr/>
          <p:nvPr/>
        </p:nvSpPr>
        <p:spPr>
          <a:xfrm>
            <a:off x="2013458" y="1401589"/>
            <a:ext cx="338882" cy="14288"/>
          </a:xfrm>
          <a:prstGeom prst="roundRect">
            <a:avLst>
              <a:gd name="adj" fmla="val 49998"/>
            </a:avLst>
          </a:prstGeom>
          <a:solidFill>
            <a:srgbClr val="B8BFDF"/>
          </a:solidFill>
          <a:ln/>
        </p:spPr>
      </p:sp>
      <p:sp>
        <p:nvSpPr>
          <p:cNvPr id="6" name="Shape 4"/>
          <p:cNvSpPr/>
          <p:nvPr/>
        </p:nvSpPr>
        <p:spPr>
          <a:xfrm>
            <a:off x="2338053" y="1281708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80357" y="1302841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6119" y="1320478"/>
            <a:ext cx="1404193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Phase 1 — Live Integration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1763464"/>
            <a:ext cx="1404193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 live traffic APIs, GPS tracking, and IoT sensors for real-time data ingestion.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77889" y="2033439"/>
            <a:ext cx="338882" cy="14288"/>
          </a:xfrm>
          <a:prstGeom prst="roundRect">
            <a:avLst>
              <a:gd name="adj" fmla="val 49998"/>
            </a:avLst>
          </a:prstGeom>
          <a:solidFill>
            <a:srgbClr val="B8BFDF"/>
          </a:solidFill>
          <a:ln/>
        </p:spPr>
      </p:sp>
      <p:sp>
        <p:nvSpPr>
          <p:cNvPr id="11" name="Shape 9"/>
          <p:cNvSpPr/>
          <p:nvPr/>
        </p:nvSpPr>
        <p:spPr>
          <a:xfrm>
            <a:off x="2338053" y="1913558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0357" y="1934691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29917" y="1952327"/>
            <a:ext cx="1404268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Phase 2 — AI Route Optimization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29917" y="2395314"/>
            <a:ext cx="1404268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reinforcement learning for dynamic, multi-stop route planning.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3458" y="2712839"/>
            <a:ext cx="338882" cy="14288"/>
          </a:xfrm>
          <a:prstGeom prst="roundRect">
            <a:avLst>
              <a:gd name="adj" fmla="val 49998"/>
            </a:avLst>
          </a:prstGeom>
          <a:solidFill>
            <a:srgbClr val="B8BFDF"/>
          </a:solidFill>
          <a:ln/>
        </p:spPr>
      </p:sp>
      <p:sp>
        <p:nvSpPr>
          <p:cNvPr id="16" name="Shape 14"/>
          <p:cNvSpPr/>
          <p:nvPr/>
        </p:nvSpPr>
        <p:spPr>
          <a:xfrm>
            <a:off x="2338053" y="2592958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80357" y="2614092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119" y="2631728"/>
            <a:ext cx="1404193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Phase 3 — Cloud-Native Scale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119" y="3074715"/>
            <a:ext cx="1404193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 on AWS/GCP with auto-scaling, multi-region redundancy, and enterprise security.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14577" y="1003995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Bottom 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4577" y="1270471"/>
            <a:ext cx="393806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system transforms delivery estimation from a guess into a 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precise, data-driven operation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delivering measurable business value.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6119" y="3926681"/>
            <a:ext cx="2657252" cy="790649"/>
          </a:xfrm>
          <a:prstGeom prst="roundRect">
            <a:avLst>
              <a:gd name="adj" fmla="val 600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842" y="4044404"/>
            <a:ext cx="242180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↑ Customer Satisfaction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3842" y="4274865"/>
            <a:ext cx="242180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Accurate ETAs build trust and reduce support tickets.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43337" y="3926681"/>
            <a:ext cx="2657252" cy="790649"/>
          </a:xfrm>
          <a:prstGeom prst="roundRect">
            <a:avLst>
              <a:gd name="adj" fmla="val 600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1060" y="4044404"/>
            <a:ext cx="242180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↓ Operational Costs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61060" y="4274865"/>
            <a:ext cx="242180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Optimized routing reduces fuel, time, and labor waste.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90555" y="3926681"/>
            <a:ext cx="2657326" cy="790649"/>
          </a:xfrm>
          <a:prstGeom prst="roundRect">
            <a:avLst>
              <a:gd name="adj" fmla="val 600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278" y="4044404"/>
            <a:ext cx="242188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↑ Supply Chain Efficiency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08278" y="4274865"/>
            <a:ext cx="2421880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Predictable delivery windows improve inventory and capacity planning.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2026-07-28T05:33:57Z</dcterms:created>
  <dcterms:modified xsi:type="dcterms:W3CDTF">2026-07-28T05:33:57Z</dcterms:modified>
</cp:coreProperties>
</file>